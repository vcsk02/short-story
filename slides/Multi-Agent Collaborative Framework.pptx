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2" y="4699545"/>
            <a:ext cx="391477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500" y="1272480"/>
            <a:ext cx="11811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CMPE 255 DATA MINING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0500" y="1758255"/>
            <a:ext cx="11811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Multi-Agent Debate for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Math Generation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1000" y="3625155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 Short Story on Karbasi et al. (UCLA, 2025)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38612" y="5090070"/>
            <a:ext cx="391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Presented by Vineeth Chandra Sai </a:t>
            </a:r>
            <a:r>
              <a:rPr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andukuri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19250"/>
            <a:ext cx="5524500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19250"/>
            <a:ext cx="5524500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143125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2768054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25287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325382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Personalized Learning: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Systems must adapt to each student's pace.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9443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9650" y="3945284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Knowledge Tracing: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Continuously tracking "Knowledge Components" (KCs) to find gaps.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6357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4636740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Need: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Automatic Question Generation (AQG) to provide infinite practice material.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152650"/>
            <a:ext cx="55054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2347912" y="381000"/>
            <a:ext cx="787098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Context: Intelligent Tutoring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43125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381000" y="2685305"/>
            <a:ext cx="5524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Standard Large Language Models struggle with precise control.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61975" y="354517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19125" y="354612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Zero-Shot Failure: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Asking for a "Medium" difficulty question often results in "Too Hard" or "Too Easy" outputs.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61975" y="423663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19125" y="423758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Hallucination: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 education, a "hallucinated" difficulty level can ruin a student's learning trajectory.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61975" y="492808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19125" y="492903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Gap: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single model pass isn't enough for pedagogical precision.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43125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3086100" y="381000"/>
            <a:ext cx="63207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"Goldilocks" Dilemma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3335655" y="2137469"/>
            <a:ext cx="552069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619750" y="3089969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467100" y="3432869"/>
            <a:ext cx="5257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Multi-Agent Collaborative Framework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467100" y="4550555"/>
            <a:ext cx="525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Inference Time Computation (ITC)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645681" y="3617565"/>
            <a:ext cx="10901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Teacher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" y="4274790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Generates the initial question and answer draft based on the target difficulty.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25953" y="3617565"/>
            <a:ext cx="7400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Critic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72000" y="4274790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Reviews for clarity, relevance, and difficulty. Does NOT rewrite, only critiques.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366170" y="3617565"/>
            <a:ext cx="12701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Loop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77250" y="4274790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Iterative refinement process (2-5 rounds) until the output meets quality standards.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00" y="288414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8841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2650" y="28841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2147887" y="381000"/>
            <a:ext cx="82910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1: Teacher-Critic Cycle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541240"/>
            <a:ext cx="3619500" cy="30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075610" y="3617565"/>
            <a:ext cx="22302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Versatile Agents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66750" y="4274790"/>
            <a:ext cx="3048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Multiple agents propose, revise, or endorse questions independently.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480923" y="3617565"/>
            <a:ext cx="123015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Diversity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572000" y="4274790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Randomized parameters (temperature, seed) ensure diverse perspectives.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951118" y="3617565"/>
            <a:ext cx="21002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Consensus CEO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477250" y="4274790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final decision-maker agent that reviews the transcript and selects the best option.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00" y="288414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8841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2650" y="28841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009775" y="381000"/>
            <a:ext cx="858107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2: Collective Consensus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1809750" y="2286000"/>
            <a:ext cx="8572500" cy="5905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371725" y="2428875"/>
            <a:ext cx="7820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Relevance: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Is the question strictly on-topic for the Knowledge Component?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1809750" y="2286000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809750" y="3019425"/>
            <a:ext cx="8572500" cy="5905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400300" y="3162300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Importance: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Does it test a core concept or a trivial edge case?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1809750" y="3019425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809750" y="3752850"/>
            <a:ext cx="8572500" cy="5905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400300" y="3895725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Is the linguistic phrasing precise and unambiguous?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1809750" y="3752850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809750" y="4486275"/>
            <a:ext cx="8572500" cy="5905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2400300" y="4629150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Difficulty Matching: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Does "Medium" actually mean "Medium"?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809750" y="4486275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809750" y="5219700"/>
            <a:ext cx="8572500" cy="59055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2343150" y="5362575"/>
            <a:ext cx="784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Answerability: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Can the problem be solved with the given info?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809750" y="5219700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24669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32004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875" y="39338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7875" y="46672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47875" y="54006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3957637" y="381000"/>
            <a:ext cx="449056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Metrics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19250"/>
            <a:ext cx="11430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81000" y="4945409"/>
            <a:ext cx="1143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Multi-agent workflows (TCC &amp; CC) consistently outperformed single-agent baselines, with the biggest gains in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Difficulty Matching</a:t>
            </a: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Relevance</a:t>
            </a: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962275" y="381000"/>
            <a:ext cx="65808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Collaboration Wins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544091"/>
            <a:ext cx="11430000" cy="500821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381000" y="6106566"/>
            <a:ext cx="1143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drops significantly as difficulty increases. Generating "Hard" questions remains the biggest challenge for all models.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3814762" y="305841"/>
            <a:ext cx="479059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"Hard" Problem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12192000" cy="6857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968725"/>
            <a:ext cx="5524500" cy="570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68725"/>
            <a:ext cx="5524500" cy="570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1359247"/>
            <a:ext cx="4743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71525" y="3222277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Few-Shot Prompting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71525" y="3879502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Showing the model examples of similar problems ("Few-Shot") had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little to no impact</a:t>
            </a:r>
            <a:r>
              <a:rPr b="0" i="0" lang="en-U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on performance compared to simple prompting. Context alone isn't enough.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677025" y="5359747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Wins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677025" y="601697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structure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of the workflow (agents debating) matters more than the specific wording of the prompt.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1359247"/>
            <a:ext cx="4743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3021975" y="198948"/>
            <a:ext cx="64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Prompting vs. Architecture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19250"/>
            <a:ext cx="5524500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19250"/>
            <a:ext cx="55245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71525" y="3042344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6534"/>
                </a:solidFill>
                <a:latin typeface="Merriweather"/>
                <a:ea typeface="Merriweather"/>
                <a:cs typeface="Merriweather"/>
                <a:sym typeface="Merriweather"/>
              </a:rPr>
              <a:t>Strengths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677025" y="2905125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91B1B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352716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009650" y="3528119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Flow Engineering: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Proves workflows &gt; prompts.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39443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09650" y="3945284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Consensus CEO: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Smart design pattern for conflict resolution.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52500" y="46357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009650" y="4636740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Safety: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"Critic" loop prevents bad educational content.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858000" y="338994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915150" y="3390900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Incremental Gains: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Improvements are steady but not revolutionary.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858000" y="408140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915150" y="408235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Cost: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Running 5 agents per homework problem is expensive.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858000" y="477285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915150" y="4773810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Ceiling Effect: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LLM graders might be too lenient.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495800" y="381000"/>
            <a:ext cx="336042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My Two Cents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1663005"/>
            <a:ext cx="9410700" cy="353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1755457" y="2234505"/>
            <a:ext cx="868108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Don't Zero-Shot It.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 Build a Team.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962150" y="3929955"/>
            <a:ext cx="82677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future of AI in education lies in collaborative agentic workflows.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381000" y="3159472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381000" y="4142333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81000" y="4927103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476375" y="2527101"/>
            <a:ext cx="1033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https://figures.semanticscholar.org/403c0f91fba1399e9b7a15c5fbea60ce5f28eabb/2-Figure1-1.png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476375" y="2772816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semanticscholar.org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4175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476375" y="3311872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https://media.istockphoto.com/id/1327436571/vector/vector-illustration-of-afro-american-school-girl-in-uniform-confused-student.jpg?s=612x612&amp;w=0&amp;k=20&amp;c=SFNxALDuyLTjnqMBNHjxrxqUrZMJs1grKd0gsMnMp08=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476375" y="3755677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43012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476375" y="4294733"/>
            <a:ext cx="1033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https://static.vecteezy.com/system/resources/previews/047/327/378/non_2x/modern-architecture-concept-with-3d-house-rendering-over-blueprints-photo.jpg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476375" y="4540448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50860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476375" y="5079503"/>
            <a:ext cx="1033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https://images.stockcake.com/public/4/5/1/451f00fe-ad9d-46c8-b8bf-e21b7badbd6a_large/students-building-robot-stockcake.jpg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476375" y="5325219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stockcake.com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443412" y="381000"/>
            <a:ext cx="34704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